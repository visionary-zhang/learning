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0" r:id="rId4"/>
    <p:sldId id="269" r:id="rId5"/>
    <p:sldId id="270" r:id="rId6"/>
    <p:sldId id="261" r:id="rId7"/>
    <p:sldId id="271" r:id="rId8"/>
    <p:sldId id="272" r:id="rId9"/>
    <p:sldId id="273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1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0" autoAdjust="0"/>
    <p:restoredTop sz="86562" autoAdjust="0"/>
  </p:normalViewPr>
  <p:slideViewPr>
    <p:cSldViewPr snapToGrid="0" showGuides="1">
      <p:cViewPr varScale="1">
        <p:scale>
          <a:sx n="66" d="100"/>
          <a:sy n="66" d="100"/>
        </p:scale>
        <p:origin x="92" y="96"/>
      </p:cViewPr>
      <p:guideLst>
        <p:guide orient="horz" pos="2112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E7821D-D706-4DD4-95CE-52CCF92123E0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392EEC-5A43-47B9-BD96-D1C08A9714A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3515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38529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98979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CB9C2-CC8F-E5A1-94CA-E06F121B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52A14CD-6DBF-BE21-35F0-9D9FFCE231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BE85CDD-19CF-5670-234A-17322669F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975D11-4E24-362D-CFFE-15C1E0275F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9504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354B1-1F07-3741-03ED-5B4C3E9DF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DC755F-2C2F-3127-46EE-DFE9935D9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CC93559-CD16-BDB8-4FF7-14DEA5C675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B3A0CD-E0F8-7B3C-85E3-5152ECDDA6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392EEC-5A43-47B9-BD96-D1C08A9714A4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11458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B790EB9-5364-1DA4-CA35-8BBC968705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E597684-5797-9EB9-5589-95929C4AA1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612E8F1-ED0A-3760-3430-965D3238DA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510759-74B2-D3DB-3305-6012DCB16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B99EBA0-F619-EAAA-3966-62BF526F1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388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E4AF6-A8B5-3EDB-6942-F687220D0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335368-B2E9-07EE-5643-7D44E9CC2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58EF472-3EBD-C193-3774-B436978D3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68768A-1F67-8C08-59B2-183ABC110F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EAEF0C-0B70-CC08-B4FE-27441E2002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33229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C611F0-9840-FE33-4EA4-6705D7035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E265635-E241-32F6-47F0-56D3E551D1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C20ED53-868C-777B-131F-C82624AB5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B9D347-ED16-3DE6-BB33-8F6F050F2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02DAEB8-C613-864A-0A93-2EDF41D17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430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EB6273-66C2-2B12-4825-3DE180752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F37BF9-4FF3-A949-B069-A7C161EA6F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E77D9DB-A2CA-AC3A-8B96-83B084461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334D736-75B6-DAAD-AF3A-121F04D33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4B93959-0AC2-B7C5-AE9E-27A79F419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9406F07-0B00-182E-F754-47C82722E0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0609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CF0FE6-3FEB-7809-C57D-6D6EC57C2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54A06EE-ED37-87C5-9159-14E2B18E9A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581FA8B-F9FF-F08E-FEB8-C31D027E44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D8FE0BC-F800-BA4F-D9D2-03105F296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AB07DD8-2629-6746-8B35-61408A0AA3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79013B7-54C8-7ABE-565C-EA0546239F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7729F9-433B-30F4-E63A-985058FF5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633AF2E-BF63-62B9-120E-A280016AF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683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FB272B5-8DAB-19CC-735C-1B2D6627E5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8FBB19-06E6-177F-A9AC-2772FB907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72DA207-86F6-7B08-38DA-3A46849E6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2428DCD-857A-EE3C-1687-0426E32C1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50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866DFF1-B395-874F-199A-E7373F225D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519EBC0-9390-C4CE-8F03-07A738E5C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D0090A-CDB9-D62F-0E79-9DF8159942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5648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136EF27-64C6-54ED-CC8F-6833847EB8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D983C7-EB8F-9C64-9162-13788357F1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0FCF1B1-DFDB-77AD-0814-996D7FB87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6DC9A2E-7E24-07F6-E169-F22E1C8F7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C60C422-14D8-C6CA-2047-EC1E45E81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CBA32E-3760-C4E3-D33C-AACCC2CBD3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6293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647F45-1FE9-4ABA-DD18-75AFE5C26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635F2751-EC19-4DA7-09FB-1DF0C828AF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5140D0B-675F-77B2-CB80-2F04595EB9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CE49FDD-027D-CBCF-7AD8-1858B0FD77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A652481-C8CA-05E9-9496-9B81971F1B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B5398BC-2491-9878-F51E-B61888166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7009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4619C4-3739-5F78-84C4-C4621331D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FF7B025-067A-0827-12EF-C7752DCE28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914097F-1907-CF5B-8DD5-DE8E56A1E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CFD444-A95C-47BB-11C1-52486EA3F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D26F1AE-8BD5-AFCC-4C83-F899AA7F49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224656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9337317-C9E4-5EAA-760A-FDB0C87058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DFCFEB3-AD2A-D6E0-4AE4-A6CAF69C09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C207F48-E78C-744F-4E2E-83F33B96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CE4483F-3AD5-67DB-83C2-0D53D6A1C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F27FBD1-1AE6-0717-4F1B-23A1405ADF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06773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1C7D281-F447-7073-6E00-ED90F46DD2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79C1853-4942-6B60-4327-D62BFB5B97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A4C78D2-4F9C-2145-CF1C-65A65BEAB3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37D159-D846-43FD-8AE1-DC0896E64EB2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1F6CA2-7041-E997-FB19-9F292A76E3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FE874F-5CD5-C1F7-CA01-55EC12DD08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309E64-5D5B-4361-BFA9-B75B9CE551D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5439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左大括号 3">
            <a:extLst>
              <a:ext uri="{FF2B5EF4-FFF2-40B4-BE49-F238E27FC236}">
                <a16:creationId xmlns:a16="http://schemas.microsoft.com/office/drawing/2014/main" id="{7C33A173-BBF1-57DC-3EB4-AFA7A23FFD43}"/>
              </a:ext>
            </a:extLst>
          </p:cNvPr>
          <p:cNvSpPr/>
          <p:nvPr/>
        </p:nvSpPr>
        <p:spPr>
          <a:xfrm>
            <a:off x="4188692" y="1620982"/>
            <a:ext cx="1560946" cy="386080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DFAFF4-6E41-E6DF-2CCE-3D5FEB9D2187}"/>
              </a:ext>
            </a:extLst>
          </p:cNvPr>
          <p:cNvSpPr/>
          <p:nvPr/>
        </p:nvSpPr>
        <p:spPr>
          <a:xfrm>
            <a:off x="2636981" y="3158836"/>
            <a:ext cx="1463964" cy="78509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Yolo</a:t>
            </a:r>
            <a:endParaRPr lang="zh-CN" altLang="en-US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301BE84-C950-B79F-BE45-5BD93E1EB277}"/>
              </a:ext>
            </a:extLst>
          </p:cNvPr>
          <p:cNvSpPr/>
          <p:nvPr/>
        </p:nvSpPr>
        <p:spPr>
          <a:xfrm>
            <a:off x="5929745" y="4999181"/>
            <a:ext cx="1884218" cy="9652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solidFill>
                  <a:schemeClr val="tx1"/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算法应用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22E2A22-3B29-1216-9D99-9C33AE854680}"/>
              </a:ext>
            </a:extLst>
          </p:cNvPr>
          <p:cNvSpPr/>
          <p:nvPr/>
        </p:nvSpPr>
        <p:spPr>
          <a:xfrm>
            <a:off x="5935136" y="1237673"/>
            <a:ext cx="1884218" cy="8405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400" dirty="0">
                <a:solidFill>
                  <a:schemeClr val="tx1"/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理论知识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00A2E51-F5B0-85BB-D1F7-EA6056F3C66B}"/>
              </a:ext>
            </a:extLst>
          </p:cNvPr>
          <p:cNvSpPr txBox="1"/>
          <p:nvPr/>
        </p:nvSpPr>
        <p:spPr>
          <a:xfrm>
            <a:off x="9740348" y="6396335"/>
            <a:ext cx="24933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b="1" dirty="0">
                <a:latin typeface="Times New Roman" panose="02020603050405020304" pitchFamily="18" charset="0"/>
                <a:ea typeface="SimSun" panose="02010600030101010101" pitchFamily="2" charset="-122"/>
              </a:rPr>
              <a:t>2026.4.28   </a:t>
            </a:r>
            <a:r>
              <a:rPr lang="zh-CN" altLang="en-US" sz="2400" b="1" dirty="0">
                <a:latin typeface="Times New Roman" panose="02020603050405020304" pitchFamily="18" charset="0"/>
                <a:ea typeface="SimSun" panose="02010600030101010101" pitchFamily="2" charset="-122"/>
              </a:rPr>
              <a:t>张波 </a:t>
            </a:r>
          </a:p>
        </p:txBody>
      </p:sp>
    </p:spTree>
    <p:extLst>
      <p:ext uri="{BB962C8B-B14F-4D97-AF65-F5344CB8AC3E}">
        <p14:creationId xmlns:p14="http://schemas.microsoft.com/office/powerpoint/2010/main" val="34185049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5A56E49-CB7D-6C16-5D56-596D7883599E}"/>
              </a:ext>
            </a:extLst>
          </p:cNvPr>
          <p:cNvSpPr/>
          <p:nvPr/>
        </p:nvSpPr>
        <p:spPr>
          <a:xfrm>
            <a:off x="16934" y="0"/>
            <a:ext cx="2751666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3500" b="1" dirty="0">
                <a:solidFill>
                  <a:schemeClr val="tx1"/>
                </a:solidFill>
                <a:latin typeface="SimSun" panose="02010600030101010101" pitchFamily="2" charset="-122"/>
                <a:ea typeface="SimSun" panose="02010600030101010101" pitchFamily="2" charset="-122"/>
              </a:rPr>
              <a:t>理论知识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30271C4-E9D5-D3C9-BE4D-B0976C3D5836}"/>
              </a:ext>
            </a:extLst>
          </p:cNvPr>
          <p:cNvSpPr txBox="1"/>
          <p:nvPr/>
        </p:nvSpPr>
        <p:spPr>
          <a:xfrm>
            <a:off x="16934" y="1165056"/>
            <a:ext cx="12175066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Proximal Policy Optimization Algorithm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(Author: John Schulman et al, arXiv 2017)</a:t>
            </a:r>
          </a:p>
          <a:p>
            <a:endParaRPr lang="zh-CN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DeepSeekMath: Pushing the Limits of Mathematical Reasoning in Open Language Models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(Author: Zhihong Shao et al, arXiv 2024)</a:t>
            </a:r>
          </a:p>
          <a:p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Reinforcement Learning Meets Large Language Models: A Survey of Advancements and Applications Across the LLM Lifecycle</a:t>
            </a: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(Author: </a:t>
            </a:r>
            <a:r>
              <a:rPr lang="en-US" altLang="zh-CN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Keliang</a:t>
            </a:r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Liu et al, arXiv 2025)</a:t>
            </a:r>
          </a:p>
          <a:p>
            <a:endParaRPr lang="en-US" altLang="zh-CN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</a:t>
            </a: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523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38618-8E21-A3C6-6B9D-7DD17F03B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8F16350-CE2E-E056-0A07-10FFFF8BBAAA}"/>
              </a:ext>
            </a:extLst>
          </p:cNvPr>
          <p:cNvSpPr/>
          <p:nvPr/>
        </p:nvSpPr>
        <p:spPr>
          <a:xfrm>
            <a:off x="16933" y="0"/>
            <a:ext cx="10430933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Proximal Policy Optimization Algorithm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31383C4-994C-7DC7-339F-80F2D84DC619}"/>
              </a:ext>
            </a:extLst>
          </p:cNvPr>
          <p:cNvSpPr txBox="1"/>
          <p:nvPr/>
        </p:nvSpPr>
        <p:spPr>
          <a:xfrm>
            <a:off x="-2318" y="851836"/>
            <a:ext cx="12192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问题：如何让策略梯度既稳定，又简单高效的更新？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注：这是简要概括地，因为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abstract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没有明确指出，引言中提出的问题又多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动机：引言中没有明确指出受什么启发。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但感觉是作者提出的这句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,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把目标检测重新定义为一个单一的回归问题，直接从图像回归到边界框坐标和类别概率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贡献：最关键的就是提出了一种单阶段检测框架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这不就说明了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的本质就是最大化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Policy 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最小化</a:t>
            </a:r>
            <a:r>
              <a:rPr lang="en-US" altLang="zh-CN" sz="2400" dirty="0" err="1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crtic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policy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actor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en-US" altLang="zh-CN" sz="2400" dirty="0" err="1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maxE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[clip(rt	​At	​)]value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（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critic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）：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min(V</a:t>
            </a:r>
            <a:r>
              <a:rPr lang="el-GR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ϕ	​(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st	​)−</a:t>
            </a:r>
            <a:r>
              <a:rPr lang="en-US" altLang="zh-CN" sz="2400" dirty="0" err="1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V^t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	​)2</a:t>
            </a: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9378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BCEE7-BC94-785D-DCCE-795EA61C9D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3445B86-1F26-C9D4-203D-BB857FDCC4DC}"/>
              </a:ext>
            </a:extLst>
          </p:cNvPr>
          <p:cNvSpPr/>
          <p:nvPr/>
        </p:nvSpPr>
        <p:spPr>
          <a:xfrm>
            <a:off x="16933" y="0"/>
            <a:ext cx="10430933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You Only Look Once: Unified, Real-Time Object Detection</a:t>
            </a:r>
            <a:endParaRPr lang="zh-CN" altLang="en-US" sz="3000" b="1" dirty="0">
              <a:solidFill>
                <a:schemeClr val="tx1"/>
              </a:solidFill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9F37C8A1-287C-24F7-D725-09FA9BEE0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65872"/>
            <a:ext cx="4419827" cy="450873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669F7A1E-2726-109E-E75D-2B464337D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" y="2879413"/>
            <a:ext cx="4978656" cy="615982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81C33E5-EAD3-AE4F-FFFE-4D382B08D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7165" y="1602996"/>
            <a:ext cx="1905098" cy="1276416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62F8F65E-7F61-92D1-5281-3D305024E6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7165" y="2857475"/>
            <a:ext cx="1892397" cy="495325"/>
          </a:xfrm>
          <a:prstGeom prst="rect">
            <a:avLst/>
          </a:prstGeom>
        </p:spPr>
      </p:pic>
      <p:sp>
        <p:nvSpPr>
          <p:cNvPr id="12" name="文本框 11">
            <a:extLst>
              <a:ext uri="{FF2B5EF4-FFF2-40B4-BE49-F238E27FC236}">
                <a16:creationId xmlns:a16="http://schemas.microsoft.com/office/drawing/2014/main" id="{171BBBB7-B519-40D5-663E-C66180844A49}"/>
              </a:ext>
            </a:extLst>
          </p:cNvPr>
          <p:cNvSpPr txBox="1"/>
          <p:nvPr/>
        </p:nvSpPr>
        <p:spPr>
          <a:xfrm>
            <a:off x="24241" y="3978588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actor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部分学习策略，在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value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部分中学习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baseline value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456C4A1-59FC-281F-AE3C-025A030F47EA}"/>
              </a:ext>
            </a:extLst>
          </p:cNvPr>
          <p:cNvSpPr txBox="1"/>
          <p:nvPr/>
        </p:nvSpPr>
        <p:spPr>
          <a:xfrm>
            <a:off x="3506802" y="4691963"/>
            <a:ext cx="709096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注意这个公式有一个迷惑的地方就是，用当前策略采样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trajectory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GAE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使用老数据，构造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target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用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MSE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更新 </a:t>
            </a:r>
            <a:r>
              <a:rPr lang="de-DE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</a:t>
            </a:r>
            <a:r>
              <a:rPr lang="el-GR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ϕ	​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 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00371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F5937-A977-4E91-3F89-054AE6664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B0DD575-7C0B-2CFB-2633-31A116111D6A}"/>
              </a:ext>
            </a:extLst>
          </p:cNvPr>
          <p:cNvSpPr/>
          <p:nvPr/>
        </p:nvSpPr>
        <p:spPr>
          <a:xfrm>
            <a:off x="-2318" y="96253"/>
            <a:ext cx="12172749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DeepSeekMath: Pushing the Limits of Mathematical Reasoning in Open Language Models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375B91-3813-40C2-DC8B-3CB4EF074226}"/>
              </a:ext>
            </a:extLst>
          </p:cNvPr>
          <p:cNvSpPr txBox="1"/>
          <p:nvPr/>
        </p:nvSpPr>
        <p:spPr>
          <a:xfrm>
            <a:off x="16933" y="1169470"/>
            <a:ext cx="121920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问题：开源模型在解决复杂数学问题时明显落后于闭源模型。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动机：问题可以作为动机吗？没有明确说明受什么启发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方法：基于构建的数据集先进行预训练，随后在后训练过程中先通过指令微调，再进行强化学习推理。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注：这其实就是将强化学习用于推理阶段，后面我将重点介绍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GRPO)</a:t>
            </a: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贡献：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构建了一个高质量数据集。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	2.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提出了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用于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LLM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中。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	3.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统一范式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93997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7489A-C7F8-FF9B-3EDC-641B9123E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747952CB-A7B0-09A4-6B09-7EA699090AA5}"/>
              </a:ext>
            </a:extLst>
          </p:cNvPr>
          <p:cNvSpPr/>
          <p:nvPr/>
        </p:nvSpPr>
        <p:spPr>
          <a:xfrm>
            <a:off x="0" y="105878"/>
            <a:ext cx="10430933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DeepSeekMath: Pushing the Limits of Mathematical Reasoning in Open Language Models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8CB5EDC4-8EAC-4C8C-9E6C-9DEECE258BDD}"/>
              </a:ext>
            </a:extLst>
          </p:cNvPr>
          <p:cNvSpPr txBox="1"/>
          <p:nvPr/>
        </p:nvSpPr>
        <p:spPr>
          <a:xfrm>
            <a:off x="-4635" y="1338311"/>
            <a:ext cx="121920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的问题：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同时训练一个价值函数与策略模型，导致计算量太大。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		2.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价值函数难以迁移到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LLM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场景中，因为通常只有最后一个 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token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会被奖励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			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模型赋予奖励，这使得在每个 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token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上学习价值函数变得更加困难。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因此在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的基础上进行更改得到了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		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结合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LLM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更新图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32B7AFF-8347-2898-3555-077651256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635" y="2893275"/>
            <a:ext cx="8114047" cy="342948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E4B298B2-1948-84F1-2A26-D3517B9080E9}"/>
              </a:ext>
            </a:extLst>
          </p:cNvPr>
          <p:cNvSpPr txBox="1"/>
          <p:nvPr/>
        </p:nvSpPr>
        <p:spPr>
          <a:xfrm>
            <a:off x="8082504" y="2893275"/>
            <a:ext cx="410486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我认为，这两种方法有一条共同的线：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对于问题，通过当前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回答答案。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2.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然后对答案打分获得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reward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。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3.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接着去生成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advantage value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，再反馈到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 model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更新策略。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3784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03897-52A2-6F6A-47B0-78A8DEDBF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9E3C8BFD-2B36-227E-912E-F76384AD5EF6}"/>
              </a:ext>
            </a:extLst>
          </p:cNvPr>
          <p:cNvSpPr/>
          <p:nvPr/>
        </p:nvSpPr>
        <p:spPr>
          <a:xfrm>
            <a:off x="0" y="105878"/>
            <a:ext cx="10430933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DeepSeekMath: Pushing the Limits of Mathematical Reasoning in Open Language Models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36C4C3F-4DEC-AE96-5A5A-4199C258F795}"/>
              </a:ext>
            </a:extLst>
          </p:cNvPr>
          <p:cNvSpPr txBox="1"/>
          <p:nvPr/>
        </p:nvSpPr>
        <p:spPr>
          <a:xfrm>
            <a:off x="-4635" y="1338311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核心公式：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76EDB3F-583F-E721-6881-151893DC1B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6475" y="1338311"/>
            <a:ext cx="6948956" cy="858237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FD521D96-1E9A-C1A0-F651-28A0F43A6BEC}"/>
              </a:ext>
            </a:extLst>
          </p:cNvPr>
          <p:cNvSpPr txBox="1"/>
          <p:nvPr/>
        </p:nvSpPr>
        <p:spPr>
          <a:xfrm>
            <a:off x="88130" y="2282183"/>
            <a:ext cx="1219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首先，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将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KL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惩罚项直接用到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的更新中。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其次，因为不需要训练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value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模型，因此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advantage value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的求解也与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不同，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用的是组内比较的方式。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三个变体的计算方式不同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最后，因为不需要再训练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value model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因此直接训练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policy model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就行。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77FDE94-3772-4A90-60D8-BFCA38309B27}"/>
              </a:ext>
            </a:extLst>
          </p:cNvPr>
          <p:cNvSpPr txBox="1"/>
          <p:nvPr/>
        </p:nvSpPr>
        <p:spPr>
          <a:xfrm>
            <a:off x="88130" y="5058024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注意这个范式很有意思，他将如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PPO,GRPO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这些方法按照数据来源，算法和奖励模型划分，但感觉</a:t>
            </a:r>
            <a:r>
              <a:rPr lang="zh-CN" altLang="en-US" sz="2400" dirty="0">
                <a:solidFill>
                  <a:srgbClr val="FF0000"/>
                </a:solidFill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核心就是数据与梯度系数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注：对于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和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PPO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在这里的不同，就是一个将惩罚引入了，一个没有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E2D02411-1AB7-A16D-F957-57AD1F801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9087" y="3881268"/>
            <a:ext cx="5016758" cy="914447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FBF4C9A0-B4D2-34E4-785C-B34FAD9E55B4}"/>
              </a:ext>
            </a:extLst>
          </p:cNvPr>
          <p:cNvSpPr txBox="1"/>
          <p:nvPr/>
        </p:nvSpPr>
        <p:spPr>
          <a:xfrm>
            <a:off x="88130" y="4022171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统一范式：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43581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E950A-B995-9658-0F19-6F224B3D0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E7119C40-C6A8-2E90-F055-90F7CCBB0BB1}"/>
              </a:ext>
            </a:extLst>
          </p:cNvPr>
          <p:cNvSpPr/>
          <p:nvPr/>
        </p:nvSpPr>
        <p:spPr>
          <a:xfrm>
            <a:off x="0" y="105878"/>
            <a:ext cx="10430933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DeepSeekMath: Pushing the Limits of Mathematical Reasoning in Open Language Models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1C1B415-2A6D-6E16-6B55-76791E5CEF11}"/>
              </a:ext>
            </a:extLst>
          </p:cNvPr>
          <p:cNvSpPr txBox="1"/>
          <p:nvPr/>
        </p:nvSpPr>
        <p:spPr>
          <a:xfrm>
            <a:off x="0" y="1347905"/>
            <a:ext cx="12192000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思考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这个奖励函数如何构建？这是我们模型的基础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答：这篇论文从泛化能力，不确定性与过程奖励三个角度展开了粗略的介绍，但是具体怎么构建更好的？后续学习中再完善。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pPr marL="457200" indent="-457200">
              <a:buAutoNum type="arabicPeriod"/>
            </a:pP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2. 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为什么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RL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可以提升</a:t>
            </a:r>
            <a:r>
              <a:rPr lang="en-US" altLang="zh-CN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LLM</a:t>
            </a:r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的推理能力？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答：强化学习通过使输出分布更加稳健，从而提升了模型的整体性能。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77221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071F7-F652-E961-B8F6-AE4551B00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0B2C9B09-1D45-2B4D-CAC0-2541E76042C4}"/>
              </a:ext>
            </a:extLst>
          </p:cNvPr>
          <p:cNvSpPr/>
          <p:nvPr/>
        </p:nvSpPr>
        <p:spPr>
          <a:xfrm>
            <a:off x="-2318" y="96253"/>
            <a:ext cx="12172749" cy="65193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 latinLnBrk="1"/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Reinforcement Learning Meets Large Language Models: A Survey </a:t>
            </a:r>
            <a:r>
              <a:rPr lang="en-US" altLang="zh-CN" sz="30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ofAdvancements</a:t>
            </a:r>
            <a:r>
              <a:rPr lang="en-US" altLang="zh-CN" sz="3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and Applications Across the LLM Lifecycle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AD2762F-CE38-9267-DD91-9921213EBD55}"/>
              </a:ext>
            </a:extLst>
          </p:cNvPr>
          <p:cNvSpPr txBox="1"/>
          <p:nvPr/>
        </p:nvSpPr>
        <p:spPr>
          <a:xfrm>
            <a:off x="16933" y="1169470"/>
            <a:ext cx="121920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问题：开源模型在解决复杂数学问题时明显落后于闭源模型。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Times New Roman" panose="02020603050405020304" pitchFamily="18" charset="0"/>
                <a:ea typeface="SimSun" panose="02010600030101010101" pitchFamily="2" charset="-122"/>
                <a:cs typeface="Times New Roman" panose="02020603050405020304" pitchFamily="18" charset="0"/>
              </a:rPr>
              <a:t>动机：问题可以作为动机吗？没有明确说明受什么启发</a:t>
            </a:r>
            <a:endParaRPr lang="en-US" altLang="zh-CN" sz="2400" dirty="0">
              <a:latin typeface="Times New Roman" panose="02020603050405020304" pitchFamily="18" charset="0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方法：基于构建的数据集先进行预训练，随后在后训练过程中先通过指令微调，再进行强化学习推理。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(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注：这其实就是将强化学习用于推理阶段，后面我将重点介绍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GRPO)</a:t>
            </a: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贡献：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1.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构建了一个高质量数据集。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	2.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提出了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GRPO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用于</a:t>
            </a:r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LLM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中。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	3.</a:t>
            </a:r>
            <a:r>
              <a:rPr lang="zh-CN" altLang="en-US" sz="2400" dirty="0">
                <a:latin typeface="SimSun" panose="02010600030101010101" pitchFamily="2" charset="-122"/>
                <a:ea typeface="SimSun" panose="02010600030101010101" pitchFamily="2" charset="-122"/>
                <a:cs typeface="Times New Roman" panose="02020603050405020304" pitchFamily="18" charset="0"/>
              </a:rPr>
              <a:t>统一范式</a:t>
            </a:r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  <a:p>
            <a:endParaRPr lang="en-US" altLang="zh-CN" sz="2400" dirty="0">
              <a:latin typeface="SimSun" panose="02010600030101010101" pitchFamily="2" charset="-122"/>
              <a:ea typeface="SimSun" panose="0201060003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95863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4256</TotalTime>
  <Words>927</Words>
  <Application>Microsoft Office PowerPoint</Application>
  <PresentationFormat>宽屏</PresentationFormat>
  <Paragraphs>86</Paragraphs>
  <Slides>9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5" baseType="lpstr">
      <vt:lpstr>等线</vt:lpstr>
      <vt:lpstr>等线 Light</vt:lpstr>
      <vt:lpstr>宋体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祈 楪</dc:creator>
  <cp:lastModifiedBy>祈 楪</cp:lastModifiedBy>
  <cp:revision>5</cp:revision>
  <dcterms:created xsi:type="dcterms:W3CDTF">2026-04-04T12:35:27Z</dcterms:created>
  <dcterms:modified xsi:type="dcterms:W3CDTF">2026-04-28T18:11:15Z</dcterms:modified>
</cp:coreProperties>
</file>