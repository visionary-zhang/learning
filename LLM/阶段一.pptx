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omments/modernComment_117_B4C71992.xml" ContentType="application/vnd.ms-powerpoint.comments+xml"/>
  <Override PartName="/ppt/notesSlides/notesSlide1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74" r:id="rId4"/>
    <p:sldId id="273" r:id="rId5"/>
    <p:sldId id="276" r:id="rId6"/>
    <p:sldId id="277" r:id="rId7"/>
    <p:sldId id="260" r:id="rId8"/>
    <p:sldId id="269" r:id="rId9"/>
    <p:sldId id="270" r:id="rId10"/>
    <p:sldId id="261" r:id="rId11"/>
    <p:sldId id="271" r:id="rId12"/>
    <p:sldId id="272" r:id="rId13"/>
    <p:sldId id="278" r:id="rId14"/>
    <p:sldId id="279" r:id="rId15"/>
    <p:sldId id="280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885DA48-52E3-A539-821A-31189D645E1D}" name="祈 楪" initials="祈楪" userId="014d52ee20da7d07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03" autoAdjust="0"/>
    <p:restoredTop sz="86562" autoAdjust="0"/>
  </p:normalViewPr>
  <p:slideViewPr>
    <p:cSldViewPr snapToGrid="0" showGuides="1">
      <p:cViewPr varScale="1">
        <p:scale>
          <a:sx n="65" d="100"/>
          <a:sy n="65" d="100"/>
        </p:scale>
        <p:origin x="80" y="80"/>
      </p:cViewPr>
      <p:guideLst>
        <p:guide orient="horz" pos="2112"/>
        <p:guide pos="3840"/>
      </p:guideLst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8/10/relationships/authors" Target="authors.xml"/></Relationships>
</file>

<file path=ppt/comments/modernComment_117_B4C7199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1557C65-BBA1-4CE3-8B18-EF6179EB17E1}" authorId="{0885DA48-52E3-A539-821A-31189D645E1D}" created="2026-05-02T11:13:02.446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032947090" sldId="279"/>
      <ac:spMk id="5" creationId="{5AEE5B00-17B5-6CAA-9D22-2A9D23FD8934}"/>
      <ac:txMk cp="0" len="79">
        <ac:context len="80" hash="2526429526"/>
      </ac:txMk>
    </ac:txMkLst>
    <p188:pos x="12125124" y="194467"/>
    <p188:txBody>
      <a:bodyPr/>
      <a:lstStyle/>
      <a:p>
        <a:r>
          <a:rPr lang="zh-CN" altLang="en-US"/>
          <a:t>SPARK 的核心思想：
1.用生成模型产生多种解答。
2.用 verifier 通过 self-consistency 和 meta-critique 生成合成验证信号。
3.用合成数据训练一个 generative process reward model。
4.在 RL 中用这个 PRM 给模型每一步的奖励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E7821D-D706-4DD4-95CE-52CCF92123E0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392EEC-5A43-47B9-BD96-D1C08A9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3515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392EEC-5A43-47B9-BD96-D1C08A9714A4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852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BEBEF-C38C-D8AF-FCA4-4F28F2727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FD92B44-225F-BE31-57D3-D82E1A4C51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3F596D5-143B-7E10-C3C2-C310D6131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A0556A6-56CD-7B9B-7242-812E5C7BB1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392EEC-5A43-47B9-BD96-D1C08A9714A4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80335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354B1-1F07-3741-03ED-5B4C3E9DF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5DC755F-2C2F-3127-46EE-DFE9935D92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CC93559-CD16-BDB8-4FF7-14DEA5C675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6B3A0CD-E0F8-7B3C-85E3-5152ECDDA6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392EEC-5A43-47B9-BD96-D1C08A9714A4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11458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223CB-975A-9AA1-CD26-60104DEF1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04495D4-BDE8-3013-A821-04FC987EBD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43F1AE5-8A88-6E7A-8A3E-A7CD8C7A27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9A98E39-98D1-2710-80DA-A20D0195DD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392EEC-5A43-47B9-BD96-D1C08A9714A4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13524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6E7E9-4ED6-9717-EB01-1BBE32231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63E46C6-7BB7-2430-65CA-9619CF71E0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2F2E898-206F-3F1E-A399-DC4C89FDDC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BA0D94D-A560-605E-D8E9-FD68C1FD36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392EEC-5A43-47B9-BD96-D1C08A9714A4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56267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392EEC-5A43-47B9-BD96-D1C08A9714A4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98979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CB9C2-CC8F-E5A1-94CA-E06F121B0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52A14CD-6DBF-BE21-35F0-9D9FFCE231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BE85CDD-19CF-5670-234A-17322669F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5975D11-4E24-362D-CFFE-15C1E0275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392EEC-5A43-47B9-BD96-D1C08A9714A4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95042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EA895-866B-98B3-BEA9-34330ADDC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66F5E1E-3042-E8B0-74BD-DCBAFAF8A0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2A238BE-A037-194B-1FE8-617A3D7EE3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5161AC-0C62-08A9-4A8E-CF37B84C76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392EEC-5A43-47B9-BD96-D1C08A9714A4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62315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55E2C-5105-54E7-CCFF-45ADC1800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C5AA6A6-7615-EEFA-B6AB-F357D44BAC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E08A608-918A-4561-9CEE-AA6B6BA3E5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2F29AC8-DAB2-E858-2CF1-4E071833C4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392EEC-5A43-47B9-BD96-D1C08A9714A4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45963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44447-C083-4F3B-DC3C-76799E4D1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A74C36B-F87C-530D-62B7-2766AF8801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5CE85FE-FE0E-FA57-E052-0A91D541E9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D3A92DD-C230-A3D7-88E3-60BAF8DCC4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392EEC-5A43-47B9-BD96-D1C08A9714A4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55427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790EB9-5364-1DA4-CA35-8BBC968705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E597684-5797-9EB9-5589-95929C4AA1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12E8F1-ED0A-3760-3430-965D3238DA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37D159-D846-43FD-8AE1-DC0896E64EB2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D510759-74B2-D3DB-3305-6012DCB16B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99EBA0-F619-EAAA-3966-62BF526F1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09E64-5D5B-4361-BFA9-B75B9CE551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3888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0E4AF6-A8B5-3EDB-6942-F687220D0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335368-B2E9-07EE-5643-7D44E9CC27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58EF472-3EBD-C193-3774-B436978D3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37D159-D846-43FD-8AE1-DC0896E64EB2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868768A-1F67-8C08-59B2-183ABC110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9EAEF0C-0B70-CC08-B4FE-27441E200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09E64-5D5B-4361-BFA9-B75B9CE551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33229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C611F0-9840-FE33-4EA4-6705D7035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E265635-E241-32F6-47F0-56D3E551D1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C20ED53-868C-777B-131F-C82624AB5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37D159-D846-43FD-8AE1-DC0896E64EB2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B9D347-ED16-3DE6-BB33-8F6F050F2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02DAEB8-C613-864A-0A93-2EDF41D17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09E64-5D5B-4361-BFA9-B75B9CE551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430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EB6273-66C2-2B12-4825-3DE180752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5F37BF9-4FF3-A949-B069-A7C161EA6F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E77D9DB-A2CA-AC3A-8B96-83B084461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334D736-75B6-DAAD-AF3A-121F04D33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37D159-D846-43FD-8AE1-DC0896E64EB2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4B93959-0AC2-B7C5-AE9E-27A79F419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9406F07-0B00-182E-F754-47C82722E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09E64-5D5B-4361-BFA9-B75B9CE551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00609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CF0FE6-3FEB-7809-C57D-6D6EC57C2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54A06EE-ED37-87C5-9159-14E2B18E9A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581FA8B-F9FF-F08E-FEB8-C31D027E44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D8FE0BC-F800-BA4F-D9D2-03105F296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AB07DD8-2629-6746-8B35-61408A0AA3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79013B7-54C8-7ABE-565C-EA0546239F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37D159-D846-43FD-8AE1-DC0896E64EB2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D7729F9-433B-30F4-E63A-985058FF5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633AF2E-BF63-62B9-120E-A280016AF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09E64-5D5B-4361-BFA9-B75B9CE551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683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B272B5-8DAB-19CC-735C-1B2D6627E5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58FBB19-06E6-177F-A9AC-2772FB9075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37D159-D846-43FD-8AE1-DC0896E64EB2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72DA207-86F6-7B08-38DA-3A46849E6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2428DCD-857A-EE3C-1687-0426E32C1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09E64-5D5B-4361-BFA9-B75B9CE551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5079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866DFF1-B395-874F-199A-E7373F225D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37D159-D846-43FD-8AE1-DC0896E64EB2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519EBC0-9390-C4CE-8F03-07A738E5C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5D0090A-CDB9-D62F-0E79-9DF8159942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09E64-5D5B-4361-BFA9-B75B9CE551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56487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36EF27-64C6-54ED-CC8F-6833847EB8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ED983C7-EB8F-9C64-9162-13788357F1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0FCF1B1-DFDB-77AD-0814-996D7FB87B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6DC9A2E-7E24-07F6-E169-F22E1C8F7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37D159-D846-43FD-8AE1-DC0896E64EB2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C60C422-14D8-C6CA-2047-EC1E45E81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ECBA32E-3760-C4E3-D33C-AACCC2CBD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09E64-5D5B-4361-BFA9-B75B9CE551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62932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647F45-1FE9-4ABA-DD18-75AFE5C26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35F2751-EC19-4DA7-09FB-1DF0C828AF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5140D0B-675F-77B2-CB80-2F04595EB9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CE49FDD-027D-CBCF-7AD8-1858B0FD7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37D159-D846-43FD-8AE1-DC0896E64EB2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A652481-C8CA-05E9-9496-9B81971F1B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B5398BC-2491-9878-F51E-B61888166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09E64-5D5B-4361-BFA9-B75B9CE551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70093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4619C4-3739-5F78-84C4-C4621331D7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FF7B025-067A-0827-12EF-C7752DCE28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914097F-1907-CF5B-8DD5-DE8E56A1E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37D159-D846-43FD-8AE1-DC0896E64EB2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CFD444-A95C-47BB-11C1-52486EA3F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D26F1AE-8BD5-AFCC-4C83-F899AA7F4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09E64-5D5B-4361-BFA9-B75B9CE551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24656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9337317-C9E4-5EAA-760A-FDB0C87058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DFCFEB3-AD2A-D6E0-4AE4-A6CAF69C09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C207F48-E78C-744F-4E2E-83F33B963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37D159-D846-43FD-8AE1-DC0896E64EB2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CE4483F-3AD5-67DB-83C2-0D53D6A1C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F27FBD1-1AE6-0717-4F1B-23A1405AD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09E64-5D5B-4361-BFA9-B75B9CE551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706773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1C7D281-F447-7073-6E00-ED90F46DD2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79C1853-4942-6B60-4327-D62BFB5B97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A4C78D2-4F9C-2145-CF1C-65A65BEAB3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37D159-D846-43FD-8AE1-DC0896E64EB2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A1F6CA2-7041-E997-FB19-9F292A76E3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FE874F-5CD5-C1F7-CA01-55EC12DD08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309E64-5D5B-4361-BFA9-B75B9CE551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5439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7_B4C7199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D8DFAFF4-6E41-E6DF-2CCE-3D5FEB9D2187}"/>
              </a:ext>
            </a:extLst>
          </p:cNvPr>
          <p:cNvSpPr/>
          <p:nvPr/>
        </p:nvSpPr>
        <p:spPr>
          <a:xfrm>
            <a:off x="4949988" y="1926384"/>
            <a:ext cx="2292023" cy="7850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RL</a:t>
            </a:r>
            <a:r>
              <a:rPr lang="zh-CN" alt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结合大模型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00A2E51-F5B0-85BB-D1F7-EA6056F3C66B}"/>
              </a:ext>
            </a:extLst>
          </p:cNvPr>
          <p:cNvSpPr txBox="1"/>
          <p:nvPr/>
        </p:nvSpPr>
        <p:spPr>
          <a:xfrm>
            <a:off x="5307495" y="3255570"/>
            <a:ext cx="1769165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6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    张波</a:t>
            </a:r>
            <a:endParaRPr lang="en-US" altLang="zh-CN" sz="2600" b="1" dirty="0">
              <a:latin typeface="Times New Roman" panose="02020603050405020304" pitchFamily="18" charset="0"/>
              <a:ea typeface="SimSun" panose="02010600030101010101" pitchFamily="2" charset="-122"/>
            </a:endParaRPr>
          </a:p>
          <a:p>
            <a:r>
              <a:rPr lang="en-US" altLang="zh-CN" sz="26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 2026.4.29</a:t>
            </a:r>
            <a:r>
              <a:rPr lang="zh-CN" altLang="en-US" sz="26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185049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5A56E49-CB7D-6C16-5D56-596D7883599E}"/>
              </a:ext>
            </a:extLst>
          </p:cNvPr>
          <p:cNvSpPr/>
          <p:nvPr/>
        </p:nvSpPr>
        <p:spPr>
          <a:xfrm>
            <a:off x="16934" y="0"/>
            <a:ext cx="2751666" cy="65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3500" b="1" dirty="0">
                <a:solidFill>
                  <a:schemeClr val="tx1"/>
                </a:solidFill>
                <a:latin typeface="SimSun" panose="02010600030101010101" pitchFamily="2" charset="-122"/>
                <a:ea typeface="SimSun" panose="02010600030101010101" pitchFamily="2" charset="-122"/>
              </a:rPr>
              <a:t>理论知识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30271C4-E9D5-D3C9-BE4D-B0976C3D5836}"/>
              </a:ext>
            </a:extLst>
          </p:cNvPr>
          <p:cNvSpPr txBox="1"/>
          <p:nvPr/>
        </p:nvSpPr>
        <p:spPr>
          <a:xfrm>
            <a:off x="-2944" y="886761"/>
            <a:ext cx="12175066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latinLnBrk="1"/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1. Reinforcement Learning Meets Large Language Models: A Survey of Advancements and Applications Across the LLM Lifecycle</a:t>
            </a:r>
          </a:p>
          <a:p>
            <a:pPr algn="just" latinLnBrk="1"/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(Author: </a:t>
            </a:r>
            <a:r>
              <a:rPr lang="en-US" altLang="zh-CN" sz="2400" dirty="0" err="1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Keliang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Liu et al, </a:t>
            </a:r>
            <a:r>
              <a:rPr lang="en-US" altLang="zh-CN" sz="2400" dirty="0" err="1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arXiv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2025)</a:t>
            </a:r>
          </a:p>
          <a:p>
            <a:pPr algn="just" latinLnBrk="1"/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pPr algn="just" latinLnBrk="1"/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2. Proximal Policy Optimization Algorithm</a:t>
            </a:r>
          </a:p>
          <a:p>
            <a:pPr algn="just" latinLnBrk="1"/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(Author: John Schulman et al, arXiv 2017)</a:t>
            </a:r>
          </a:p>
          <a:p>
            <a:pPr algn="just" latinLnBrk="1"/>
            <a:endParaRPr lang="zh-CN" altLang="en-US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pPr algn="just" latinLnBrk="1"/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3. DeepSeekMath: Pushing the Limits of Mathematical Reasoning in Open Language Models</a:t>
            </a:r>
          </a:p>
          <a:p>
            <a:pPr algn="just" latinLnBrk="1"/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(Author: Zhihong Shao et al, arXiv 2024)</a:t>
            </a:r>
          </a:p>
          <a:p>
            <a:pPr algn="just" latinLnBrk="1"/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pPr algn="just" latinLnBrk="1"/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4. Does Reinforcement Learning Really Incentivize Reasoning Capacity in LLMs Beyond the Base Model?</a:t>
            </a:r>
          </a:p>
          <a:p>
            <a:pPr algn="just" latinLnBrk="1"/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pPr algn="just" latinLnBrk="1"/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5. SPARK: STEPWISE PROCESS-AWARE REWARDS FOR REFERENCE-FREE REINFORCEMENT LEARNING</a:t>
            </a:r>
          </a:p>
        </p:txBody>
      </p:sp>
    </p:spTree>
    <p:extLst>
      <p:ext uri="{BB962C8B-B14F-4D97-AF65-F5344CB8AC3E}">
        <p14:creationId xmlns:p14="http://schemas.microsoft.com/office/powerpoint/2010/main" val="187523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45E97-9867-22E8-81B1-81D4D2692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1534BB7C-466E-9CC7-B3AD-85A6C2D8CEBE}"/>
              </a:ext>
            </a:extLst>
          </p:cNvPr>
          <p:cNvSpPr/>
          <p:nvPr/>
        </p:nvSpPr>
        <p:spPr>
          <a:xfrm>
            <a:off x="-9939" y="404366"/>
            <a:ext cx="12172749" cy="65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 latinLnBrk="1"/>
            <a:r>
              <a:rPr lang="en-US" altLang="zh-CN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Reinforcement Learning Meets Large Language Models: A Survey of Advancements and Applications Across the LLM Lifecycle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52BD2AF-E217-862C-652F-7D3085C9ACF7}"/>
              </a:ext>
            </a:extLst>
          </p:cNvPr>
          <p:cNvSpPr txBox="1"/>
          <p:nvPr/>
        </p:nvSpPr>
        <p:spPr>
          <a:xfrm>
            <a:off x="-19878" y="1586913"/>
            <a:ext cx="121920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问题：现有综述对强化学习增强的大语言模型进行了概述，但其覆盖范围往往较为有限，未能全面总结强化学习在大语言模型整个生命周期中的作用机制。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动机：没有找到整篇论文的动机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注：但是对于具体阶段中每个地方的小动机能看出来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)</a:t>
            </a: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贡献：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1.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构建了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RL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在</a:t>
            </a:r>
            <a:r>
              <a:rPr lang="de-DE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pretraining</a:t>
            </a:r>
            <a:r>
              <a:rPr lang="zh-CN" altLang="de-DE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de-DE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alignment</a:t>
            </a:r>
            <a:r>
              <a:rPr lang="zh-CN" altLang="de-DE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de-DE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reinforced reasoning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中的作用。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	2.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同时整理了相关数据，指标以及开源工具与平台</a:t>
            </a:r>
            <a:r>
              <a:rPr lang="de-DE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</a:t>
            </a: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sz="2400" dirty="0">
                <a:solidFill>
                  <a:srgbClr val="FF0000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注：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接下来我将把重点放在</a:t>
            </a:r>
            <a:r>
              <a:rPr lang="en-US" altLang="zh-CN" sz="2400" b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RL</a:t>
            </a:r>
            <a:r>
              <a:rPr lang="zh-CN" altLang="en-US" sz="2400" b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用于推理阶段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)</a:t>
            </a: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14924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071F7-F652-E961-B8F6-AE4551B00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0B2C9B09-1D45-2B4D-CAC0-2541E76042C4}"/>
              </a:ext>
            </a:extLst>
          </p:cNvPr>
          <p:cNvSpPr/>
          <p:nvPr/>
        </p:nvSpPr>
        <p:spPr>
          <a:xfrm>
            <a:off x="17560" y="96253"/>
            <a:ext cx="12172749" cy="65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 latinLnBrk="1"/>
            <a:r>
              <a:rPr lang="en-US" altLang="zh-CN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Reinforcement Learning Meets Large Language Models: A Survey of Advancements and Applications Across the LLM Lifecycle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F2624C71-CDDB-1017-5BDA-51195DC9E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56579"/>
            <a:ext cx="5623857" cy="5884489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93E053EF-6633-E3B9-BDBE-210EEBB79A22}"/>
              </a:ext>
            </a:extLst>
          </p:cNvPr>
          <p:cNvSpPr txBox="1"/>
          <p:nvPr/>
        </p:nvSpPr>
        <p:spPr>
          <a:xfrm>
            <a:off x="5218584" y="2917814"/>
            <a:ext cx="697341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这图表明了一条基于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GRPO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架构完整的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RL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用于推理阶段的路线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sz="2400" dirty="0">
                <a:solidFill>
                  <a:srgbClr val="C00000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注：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也表明了各个部分需要注意的问题以及相关方法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)</a:t>
            </a: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95863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E8D88-822D-CE5B-0D31-EFD36129E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EB44EB1E-07B7-4AA1-F9A2-7BD2EF435FE3}"/>
              </a:ext>
            </a:extLst>
          </p:cNvPr>
          <p:cNvSpPr/>
          <p:nvPr/>
        </p:nvSpPr>
        <p:spPr>
          <a:xfrm>
            <a:off x="6367" y="0"/>
            <a:ext cx="12172749" cy="65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3200" b="1" dirty="0">
                <a:solidFill>
                  <a:schemeClr val="tx1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相关问题</a:t>
            </a:r>
            <a:r>
              <a:rPr lang="en-US" altLang="zh-CN" sz="3200" b="1" dirty="0">
                <a:solidFill>
                  <a:schemeClr val="tx1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sz="3200" b="1" dirty="0">
                <a:solidFill>
                  <a:schemeClr val="tx1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或者说可能的方向</a:t>
            </a:r>
            <a:r>
              <a:rPr lang="en-US" altLang="zh-CN" sz="3200" b="1" dirty="0">
                <a:solidFill>
                  <a:schemeClr val="tx1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3DCE6A7-C305-F397-1F42-DF54DFE3FD46}"/>
              </a:ext>
            </a:extLst>
          </p:cNvPr>
          <p:cNvSpPr txBox="1"/>
          <p:nvPr/>
        </p:nvSpPr>
        <p:spPr>
          <a:xfrm>
            <a:off x="6367" y="527061"/>
            <a:ext cx="12192000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1. </a:t>
            </a:r>
            <a:r>
              <a:rPr lang="en-US" altLang="zh-CN" sz="2400" b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RLVR</a:t>
            </a:r>
            <a:r>
              <a:rPr lang="zh-CN" altLang="en-US" sz="2400" b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在</a:t>
            </a:r>
            <a:r>
              <a:rPr lang="de-DE" altLang="zh-CN" sz="2400" b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Reasoning</a:t>
            </a:r>
            <a:r>
              <a:rPr lang="zh-CN" altLang="en-US" sz="2400" b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中：</a:t>
            </a:r>
            <a:endParaRPr lang="en-US" altLang="zh-CN" sz="2400" b="1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(1). RLVR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技术通过在测试阶段消耗更多计算资源、生成更长的思维链，从而提升了性能。</a:t>
            </a:r>
          </a:p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但是有个问题是，这个思维链的长度是不可控的。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sz="2400" dirty="0">
                <a:solidFill>
                  <a:srgbClr val="C00000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注：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也就是对于简单的问题可能使用更多的资源，对于复杂的问题可能使用较少的资源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)</a:t>
            </a: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2. </a:t>
            </a:r>
            <a:r>
              <a:rPr lang="en-US" altLang="zh-CN" sz="2400" b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RLVR</a:t>
            </a:r>
            <a:r>
              <a:rPr lang="zh-CN" altLang="en-US" sz="2400" b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在</a:t>
            </a:r>
            <a:r>
              <a:rPr lang="de-DE" altLang="zh-CN" sz="2400" b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Multimodal Reasoning</a:t>
            </a:r>
            <a:r>
              <a:rPr lang="zh-CN" altLang="en-US" sz="2400" b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中：</a:t>
            </a:r>
            <a:endParaRPr lang="en-US" altLang="zh-CN" sz="2400" b="1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(1).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在推理过程仍主要局限于文本形式 。在深度整合多模态信息与外部工具的方法方面，仍存在大量探索空间。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sz="2400" dirty="0">
                <a:solidFill>
                  <a:srgbClr val="C00000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注：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这篇综述中没有具体说不足点，后续关注这个方向话再具体阅读相关论文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)</a:t>
            </a: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3. </a:t>
            </a:r>
            <a:r>
              <a:rPr lang="en-US" altLang="zh-CN" sz="2400" b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RLVR</a:t>
            </a:r>
            <a:r>
              <a:rPr lang="zh-CN" altLang="en-US" sz="2400" b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在</a:t>
            </a:r>
            <a:r>
              <a:rPr lang="en-US" altLang="zh-CN" sz="2400" b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Agent</a:t>
            </a:r>
            <a:r>
              <a:rPr lang="zh-CN" altLang="en-US" sz="2400" b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中：</a:t>
            </a:r>
            <a:endParaRPr lang="en-US" altLang="zh-CN" sz="2400" b="1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(1).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上面我们学习的大模型，其使用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RL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通常是单轮交互，但是对于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agent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来说，其不是单一的决策，而是多步决策连在一起，同时还需要考虑与环境的实时交互。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(2).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Delayed Reward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在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long-horizon decision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中只对最后的结果判断，但这就造成了，不知道内部到底哪个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policy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出了问题。</a:t>
            </a:r>
            <a:r>
              <a:rPr lang="zh-CN" altLang="en-US" sz="2400" dirty="0">
                <a:solidFill>
                  <a:srgbClr val="FF0000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但实际中我们需要知道到底哪一步有问题</a:t>
            </a:r>
            <a:endParaRPr lang="en-US" altLang="zh-CN" sz="2400" dirty="0">
              <a:solidFill>
                <a:srgbClr val="FF0000"/>
              </a:solidFill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sz="2400" dirty="0">
                <a:solidFill>
                  <a:srgbClr val="C00000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个人感想</a:t>
            </a:r>
            <a:r>
              <a:rPr lang="en-US" altLang="zh-CN" sz="2400" dirty="0">
                <a:solidFill>
                  <a:srgbClr val="C00000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RL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在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Agent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方向因该很具有前景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感觉大模型像脑子一样，只有脑子肯定不行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但大脑很重要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，具有在实际场景中运用的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agent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就如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codex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一样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，才会更好的服务市场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)</a:t>
            </a: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78504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5827E-0CC9-F1F7-1EC1-E2B5D8862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B1138996-DA2C-212B-37EF-4632192AC29E}"/>
              </a:ext>
            </a:extLst>
          </p:cNvPr>
          <p:cNvSpPr/>
          <p:nvPr/>
        </p:nvSpPr>
        <p:spPr>
          <a:xfrm>
            <a:off x="6367" y="0"/>
            <a:ext cx="12172749" cy="65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3200" b="1" dirty="0">
                <a:solidFill>
                  <a:schemeClr val="tx1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相关问题</a:t>
            </a:r>
            <a:r>
              <a:rPr lang="en-US" altLang="zh-CN" sz="3200" b="1" dirty="0">
                <a:solidFill>
                  <a:schemeClr val="tx1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sz="3200" b="1" dirty="0">
                <a:solidFill>
                  <a:schemeClr val="tx1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或者说可能的方向</a:t>
            </a:r>
            <a:r>
              <a:rPr lang="en-US" altLang="zh-CN" sz="3200" b="1" dirty="0">
                <a:solidFill>
                  <a:schemeClr val="tx1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506CD8A-C3E1-5562-B26B-1FAF62C4AA9E}"/>
              </a:ext>
            </a:extLst>
          </p:cNvPr>
          <p:cNvSpPr txBox="1"/>
          <p:nvPr/>
        </p:nvSpPr>
        <p:spPr>
          <a:xfrm>
            <a:off x="-12884" y="974321"/>
            <a:ext cx="1219200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4. Internal Feedback RL</a:t>
            </a: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(1). </a:t>
            </a:r>
            <a:r>
              <a:rPr lang="de-DE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RLHF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与</a:t>
            </a:r>
            <a:r>
              <a:rPr lang="de-DE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RLVR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都需要外部监督这很耗资源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(2). RLVR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并不会激发真正新颖的推理模式；它只是提高了正确推理路径的采样效率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.</a:t>
            </a: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sz="2400" dirty="0">
                <a:solidFill>
                  <a:srgbClr val="C00000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注：受上面问题启发，设计无需外部的</a:t>
            </a:r>
            <a:r>
              <a:rPr lang="de-DE" altLang="zh-CN" sz="2400" dirty="0">
                <a:solidFill>
                  <a:srgbClr val="C00000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verifier</a:t>
            </a:r>
            <a:r>
              <a:rPr lang="zh-CN" altLang="en-US" sz="2400" dirty="0">
                <a:solidFill>
                  <a:srgbClr val="C00000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就能内部产生</a:t>
            </a:r>
            <a:r>
              <a:rPr lang="de-DE" altLang="zh-CN" sz="2400" dirty="0">
                <a:solidFill>
                  <a:srgbClr val="C00000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reward </a:t>
            </a:r>
            <a:r>
              <a:rPr lang="zh-CN" altLang="en-US" sz="2400" dirty="0">
                <a:solidFill>
                  <a:srgbClr val="C00000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的</a:t>
            </a:r>
            <a:r>
              <a:rPr lang="de-DE" altLang="zh-CN" sz="2400" dirty="0">
                <a:solidFill>
                  <a:srgbClr val="C00000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Internal Feedback RL</a:t>
            </a:r>
            <a:r>
              <a:rPr lang="zh-CN" altLang="en-US" sz="2400" dirty="0">
                <a:solidFill>
                  <a:srgbClr val="C00000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，但是这个奖励如何设计？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)</a:t>
            </a: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dirty="0">
                <a:solidFill>
                  <a:srgbClr val="C00000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感想</a:t>
            </a:r>
            <a:endParaRPr lang="en-US" altLang="zh-CN" sz="2400" dirty="0">
              <a:solidFill>
                <a:srgbClr val="C00000"/>
              </a:solidFill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之前没学习过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RL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，但是在仔细学习后，再接触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LLM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以及结合自己以前看过的东西，发现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RL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无论在大模型后训练，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agent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，机器人以及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world model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等等方面都有广阔的前景啊。</a:t>
            </a:r>
            <a:endParaRPr lang="en-US" altLang="zh-CN" sz="2400" dirty="0">
              <a:latin typeface="SimSun" panose="02010600030101010101" pitchFamily="2" charset="-122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sz="2400" dirty="0">
                <a:solidFill>
                  <a:srgbClr val="C00000"/>
                </a:solidFill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注：当然也有可能是我现在学习的太少，有点想当然了</a:t>
            </a:r>
            <a:r>
              <a:rPr lang="en-US" altLang="zh-CN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90440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38618-8E21-A3C6-6B9D-7DD17F03B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E8F16350-CE2E-E056-0A07-10FFFF8BBAAA}"/>
              </a:ext>
            </a:extLst>
          </p:cNvPr>
          <p:cNvSpPr/>
          <p:nvPr/>
        </p:nvSpPr>
        <p:spPr>
          <a:xfrm>
            <a:off x="0" y="288235"/>
            <a:ext cx="10430933" cy="65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Proximal Policy Optimization Algorithm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31383C4-994C-7DC7-339F-80F2D84DC619}"/>
              </a:ext>
            </a:extLst>
          </p:cNvPr>
          <p:cNvSpPr txBox="1"/>
          <p:nvPr/>
        </p:nvSpPr>
        <p:spPr>
          <a:xfrm>
            <a:off x="0" y="2029997"/>
            <a:ext cx="121920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问题：如何让策略梯度既稳定，又简单高效的更新？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注：这是简要概括地，因为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abstract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没有明确指出，引言中提出的问题又多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)</a:t>
            </a: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动机：能不能保留 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TRPO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稳定更新的优点，同时让算法更简单实现？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注：这也是总结的，没有明确找到受什么启发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)</a:t>
            </a: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方法：对于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PPO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其本质就是设计了设计了两个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model(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即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policy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与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value)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。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49378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1BCEE7-BC94-785D-DCCE-795EA61C9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B3445B86-1F26-C9D4-203D-BB857FDCC4DC}"/>
              </a:ext>
            </a:extLst>
          </p:cNvPr>
          <p:cNvSpPr/>
          <p:nvPr/>
        </p:nvSpPr>
        <p:spPr>
          <a:xfrm>
            <a:off x="16933" y="0"/>
            <a:ext cx="10430933" cy="65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Proximal Policy Optimization Algorithm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9F37C8A1-287C-24F7-D725-09FA9BEE03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656" y="1184496"/>
            <a:ext cx="4419827" cy="450873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669F7A1E-2726-109E-E75D-2B464337DA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8138" y="1101942"/>
            <a:ext cx="4978656" cy="615982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171BBBB7-B519-40D5-663E-C66180844A49}"/>
              </a:ext>
            </a:extLst>
          </p:cNvPr>
          <p:cNvSpPr txBox="1"/>
          <p:nvPr/>
        </p:nvSpPr>
        <p:spPr>
          <a:xfrm>
            <a:off x="119656" y="1778500"/>
            <a:ext cx="12192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这两个公式是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policy update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时根据不同方法去限制新策略的更新范围，一个是裁剪，一个是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KL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惩罚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456C4A1-59FC-281F-AE3C-025A030F47EA}"/>
              </a:ext>
            </a:extLst>
          </p:cNvPr>
          <p:cNvSpPr txBox="1"/>
          <p:nvPr/>
        </p:nvSpPr>
        <p:spPr>
          <a:xfrm>
            <a:off x="50469" y="4490553"/>
            <a:ext cx="121415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对于这两个式子，首先通过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GME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求解优势函数，也就是左边的式子。然后反推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V(s)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，也就是右边的式子，其用于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value model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中更新。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AF40BFD4-68CF-B84E-CDFD-368A83621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5705" y="2565920"/>
            <a:ext cx="2320589" cy="592668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18051C14-B365-489D-E595-2B7FC37AD1BF}"/>
              </a:ext>
            </a:extLst>
          </p:cNvPr>
          <p:cNvSpPr txBox="1"/>
          <p:nvPr/>
        </p:nvSpPr>
        <p:spPr>
          <a:xfrm>
            <a:off x="50469" y="3198167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其中这个函数表示概率比，也就是新策略对比老策略的变化幅度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CB4318A9-6468-42BA-1ED5-E79561D938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9782" y="3946008"/>
            <a:ext cx="2404590" cy="36796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F839969A-DEFE-70AE-0FB0-4220E883AA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07970" y="5406928"/>
            <a:ext cx="6714429" cy="595788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89B48803-FAEF-4E2F-3D10-5E51468A621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609" y="3738933"/>
            <a:ext cx="4457611" cy="709811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9F2B44CA-4B7A-1000-CED1-66A567796762}"/>
              </a:ext>
            </a:extLst>
          </p:cNvPr>
          <p:cNvSpPr txBox="1"/>
          <p:nvPr/>
        </p:nvSpPr>
        <p:spPr>
          <a:xfrm>
            <a:off x="75703" y="5975233"/>
            <a:ext cx="121415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对于这式子也就是最终优化的目标，当然实际中不是优化期望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00371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F5937-A977-4E91-3F89-054AE6664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0B0DD575-7C0B-2CFB-2633-31A116111D6A}"/>
              </a:ext>
            </a:extLst>
          </p:cNvPr>
          <p:cNvSpPr/>
          <p:nvPr/>
        </p:nvSpPr>
        <p:spPr>
          <a:xfrm>
            <a:off x="-2318" y="96253"/>
            <a:ext cx="12172749" cy="65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DeepSeekMath: Pushing the Limits of Mathematical Reasoning in Open Language Models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4375B91-3813-40C2-DC8B-3CB4EF074226}"/>
              </a:ext>
            </a:extLst>
          </p:cNvPr>
          <p:cNvSpPr txBox="1"/>
          <p:nvPr/>
        </p:nvSpPr>
        <p:spPr>
          <a:xfrm>
            <a:off x="16933" y="1169470"/>
            <a:ext cx="12192000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问题：开源模型在解决复杂数学问题时明显落后于闭源模型。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动机：问题可以作为动机吗？没有明确说明受什么启发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注：但是在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GRPO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那里提到了如何设计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GRPO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的启发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)</a:t>
            </a:r>
          </a:p>
          <a:p>
            <a:endParaRPr lang="en-US" altLang="zh-CN" sz="2400" dirty="0">
              <a:latin typeface="SimSun" panose="02010600030101010101" pitchFamily="2" charset="-122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方法：基于构建的数据集先进行预训练，随后在后训练过程中先通过指令微调，再进行强化学习推理。</a:t>
            </a:r>
            <a:endParaRPr lang="en-US" altLang="zh-CN" sz="2400" dirty="0">
              <a:latin typeface="SimSun" panose="02010600030101010101" pitchFamily="2" charset="-122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注：这其实就是将强化学习用于推理阶段，后面我将重点介绍</a:t>
            </a:r>
            <a:r>
              <a:rPr lang="en-US" altLang="zh-CN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GRPO)</a:t>
            </a:r>
          </a:p>
          <a:p>
            <a:endParaRPr lang="en-US" altLang="zh-CN" sz="2400" dirty="0">
              <a:latin typeface="SimSun" panose="02010600030101010101" pitchFamily="2" charset="-122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贡献：</a:t>
            </a:r>
            <a:r>
              <a:rPr lang="en-US" altLang="zh-CN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1.</a:t>
            </a:r>
            <a:r>
              <a:rPr lang="zh-CN" altLang="en-US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构建了一个高质量数据集。</a:t>
            </a:r>
            <a:endParaRPr lang="en-US" altLang="zh-CN" sz="2400" dirty="0">
              <a:latin typeface="SimSun" panose="02010600030101010101" pitchFamily="2" charset="-122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	2.</a:t>
            </a:r>
            <a:r>
              <a:rPr lang="zh-CN" altLang="en-US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提出了</a:t>
            </a:r>
            <a:r>
              <a:rPr lang="en-US" altLang="zh-CN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GRPO</a:t>
            </a:r>
            <a:r>
              <a:rPr lang="zh-CN" altLang="en-US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用于</a:t>
            </a:r>
            <a:r>
              <a:rPr lang="en-US" altLang="zh-CN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LLM</a:t>
            </a:r>
            <a:r>
              <a:rPr lang="zh-CN" altLang="en-US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中。</a:t>
            </a:r>
            <a:endParaRPr lang="en-US" altLang="zh-CN" sz="2400" dirty="0">
              <a:latin typeface="SimSun" panose="02010600030101010101" pitchFamily="2" charset="-122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	3.</a:t>
            </a:r>
            <a:r>
              <a:rPr lang="zh-CN" altLang="en-US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统一范式</a:t>
            </a:r>
            <a:endParaRPr lang="en-US" altLang="zh-CN" sz="2400" dirty="0">
              <a:latin typeface="SimSun" panose="02010600030101010101" pitchFamily="2" charset="-122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SimSun" panose="02010600030101010101" pitchFamily="2" charset="-122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SimSun" panose="02010600030101010101" pitchFamily="2" charset="-122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93997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7489A-C7F8-FF9B-3EDC-641B9123E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747952CB-A7B0-09A4-6B09-7EA699090AA5}"/>
              </a:ext>
            </a:extLst>
          </p:cNvPr>
          <p:cNvSpPr/>
          <p:nvPr/>
        </p:nvSpPr>
        <p:spPr>
          <a:xfrm>
            <a:off x="0" y="105878"/>
            <a:ext cx="10430933" cy="65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DeepSeekMath: Pushing the Limits of Mathematical Reasoning in Open Language Models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CB5EDC4-8EAC-4C8C-9E6C-9DEECE258BDD}"/>
              </a:ext>
            </a:extLst>
          </p:cNvPr>
          <p:cNvSpPr txBox="1"/>
          <p:nvPr/>
        </p:nvSpPr>
        <p:spPr>
          <a:xfrm>
            <a:off x="-4635" y="1338311"/>
            <a:ext cx="1219200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PPO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的问题：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1.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同时训练一个价值函数与策略模型，导致计算量太大。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		2.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价值函数难以迁移到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LLM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场景中，因为通常只有最后一个 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token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会被奖励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			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模型赋予奖励，这使得在每个 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token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上学习价值函数变得更加困难。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因此在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PPO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的基础上进行更改得到了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GRPO</a:t>
            </a: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		PPO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与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GRPO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结合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LLM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更新图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732B7AFF-8347-2898-3555-0776512561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635" y="2893275"/>
            <a:ext cx="8114047" cy="3429484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E4B298B2-1948-84F1-2A26-D3517B9080E9}"/>
              </a:ext>
            </a:extLst>
          </p:cNvPr>
          <p:cNvSpPr txBox="1"/>
          <p:nvPr/>
        </p:nvSpPr>
        <p:spPr>
          <a:xfrm>
            <a:off x="8082504" y="2893275"/>
            <a:ext cx="4104861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我认为，这两种方法有一条共同的线：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1.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对于问题，通过当前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policy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回答答案。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2.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然后对答案打分获得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reward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。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3.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接着去生成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advantage value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，再反馈到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policy model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更新策略。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3784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E03897-52A2-6F6A-47B0-78A8DEDBF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9E3C8BFD-2B36-227E-912E-F76384AD5EF6}"/>
              </a:ext>
            </a:extLst>
          </p:cNvPr>
          <p:cNvSpPr/>
          <p:nvPr/>
        </p:nvSpPr>
        <p:spPr>
          <a:xfrm>
            <a:off x="0" y="105878"/>
            <a:ext cx="10430933" cy="65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DeepSeekMath: Pushing the Limits of Mathematical Reasoning in Open Language Models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36C4C3F-4DEC-AE96-5A5A-4199C258F795}"/>
              </a:ext>
            </a:extLst>
          </p:cNvPr>
          <p:cNvSpPr txBox="1"/>
          <p:nvPr/>
        </p:nvSpPr>
        <p:spPr>
          <a:xfrm>
            <a:off x="-4635" y="1338311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核心公式：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76EDB3F-583F-E721-6881-151893DC1B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6475" y="1338311"/>
            <a:ext cx="6948956" cy="858237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FD521D96-1E9A-C1A0-F651-28A0F43A6BEC}"/>
              </a:ext>
            </a:extLst>
          </p:cNvPr>
          <p:cNvSpPr txBox="1"/>
          <p:nvPr/>
        </p:nvSpPr>
        <p:spPr>
          <a:xfrm>
            <a:off x="88130" y="2282183"/>
            <a:ext cx="12192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首先，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GRPO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将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KL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惩罚项直接用到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Policy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的更新中。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其次，因为不需要训练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value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模型，因此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advantage value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的求解也与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PPO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不同，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GRPO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用的是组内比较的方式。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注：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GRPO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三个变体的计算方式不同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)</a:t>
            </a:r>
          </a:p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最后，因为不需要再训练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value model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因此直接训练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policy model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就行。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77FDE94-3772-4A90-60D8-BFCA38309B27}"/>
              </a:ext>
            </a:extLst>
          </p:cNvPr>
          <p:cNvSpPr txBox="1"/>
          <p:nvPr/>
        </p:nvSpPr>
        <p:spPr>
          <a:xfrm>
            <a:off x="88130" y="5104190"/>
            <a:ext cx="12192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注意这个范式很有意思，他将如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PPO,GRPO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这些方法按照数据来源，算法和奖励模型划分，但感觉</a:t>
            </a:r>
            <a:r>
              <a:rPr lang="zh-CN" altLang="en-US" sz="2400" dirty="0">
                <a:solidFill>
                  <a:srgbClr val="FF0000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核心就是数据与梯度系数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。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E2D02411-1AB7-A16D-F957-57AD1F8011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9087" y="3881268"/>
            <a:ext cx="5016758" cy="914447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FBF4C9A0-B4D2-34E4-785C-B34FAD9E55B4}"/>
              </a:ext>
            </a:extLst>
          </p:cNvPr>
          <p:cNvSpPr txBox="1"/>
          <p:nvPr/>
        </p:nvSpPr>
        <p:spPr>
          <a:xfrm>
            <a:off x="88130" y="4022171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统一范式：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43581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E950A-B995-9658-0F19-6F224B3D0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E7119C40-C6A8-2E90-F055-90F7CCBB0BB1}"/>
              </a:ext>
            </a:extLst>
          </p:cNvPr>
          <p:cNvSpPr/>
          <p:nvPr/>
        </p:nvSpPr>
        <p:spPr>
          <a:xfrm>
            <a:off x="9939" y="0"/>
            <a:ext cx="10430933" cy="65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3200" b="1" dirty="0">
                <a:solidFill>
                  <a:schemeClr val="tx1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思考</a:t>
            </a:r>
            <a:r>
              <a:rPr lang="en-US" altLang="zh-CN" sz="3200" b="1" dirty="0">
                <a:solidFill>
                  <a:schemeClr val="tx1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sz="3200" b="1" dirty="0">
                <a:solidFill>
                  <a:schemeClr val="tx1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结合</a:t>
            </a:r>
            <a:r>
              <a:rPr lang="en-US" altLang="zh-CN" sz="3200" b="1" dirty="0">
                <a:solidFill>
                  <a:schemeClr val="tx1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PPO)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1C1B415-2A6D-6E16-6B55-76791E5CEF11}"/>
              </a:ext>
            </a:extLst>
          </p:cNvPr>
          <p:cNvSpPr txBox="1"/>
          <p:nvPr/>
        </p:nvSpPr>
        <p:spPr>
          <a:xfrm>
            <a:off x="0" y="850949"/>
            <a:ext cx="12192000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1.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这个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Reward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model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如何构建？这是我们模型的基础之一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答：目前我了解到的分为三大类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:1.RLHF 2.RLVR 3. Process Reward</a:t>
            </a: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2. Reference Model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从哪来的？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答： 使用在后训练第一步监督微调的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SFT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，注意在使用时冻结参数，目的是用于计算新策略与老策略的差异。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注：在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PPO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与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GRPO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中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,KL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一个用于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reward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，一个用于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policy update)</a:t>
            </a: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3. PPO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与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GRPO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中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Advantage function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是如何确定的？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答：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PPO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使用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TD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确定，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GRPO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使用组内比较。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4. PPO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与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GRPO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的损失函数是如何构建的？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答：在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PPO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中我们考虑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policy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损失，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value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损失以及惩罚损失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通过权重合成为总体损失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)</a:t>
            </a: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      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在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GRPO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中就较为简便，因为没有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value model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所以直接优化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policy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损失。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77221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85C83-4C7E-D0C4-1B16-F11830C3E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0308A8E0-AC5E-ED84-0DB9-CBA5F1C76C95}"/>
              </a:ext>
            </a:extLst>
          </p:cNvPr>
          <p:cNvSpPr/>
          <p:nvPr/>
        </p:nvSpPr>
        <p:spPr>
          <a:xfrm>
            <a:off x="19251" y="205583"/>
            <a:ext cx="12172749" cy="65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 latinLnBrk="1"/>
            <a:r>
              <a:rPr lang="en-US" altLang="zh-CN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Does Reinforcement Learning Really Incentivize Reasoning Capacity in LLMs Beyond the Base Model?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9733F5F-2B8E-DCD3-8839-9B4DECF296B9}"/>
              </a:ext>
            </a:extLst>
          </p:cNvPr>
          <p:cNvSpPr txBox="1"/>
          <p:nvPr/>
        </p:nvSpPr>
        <p:spPr>
          <a:xfrm>
            <a:off x="129208" y="2150816"/>
            <a:ext cx="121920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问题：当前 </a:t>
            </a:r>
            <a:r>
              <a:rPr lang="de-DE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RLVR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是否真正使 </a:t>
            </a:r>
            <a:r>
              <a:rPr lang="de-DE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LLM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获得了新的推理能力，还是仅仅利用基础模型中已经存在的推理模式？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动机：没有找到整篇论文的动机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注：但是对于具体阶段中每个地方的小动机能看出来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)</a:t>
            </a: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方法：用 </a:t>
            </a:r>
            <a:r>
              <a:rPr lang="de-DE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pass@k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测推理能力，再用 </a:t>
            </a:r>
            <a:r>
              <a:rPr lang="de-DE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coverage/perplexity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判断 </a:t>
            </a:r>
            <a:r>
              <a:rPr lang="de-DE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RLVR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是否产生新的推理路径。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60917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B5A8A-6FD2-89CD-66FC-3FEA15B3A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5AEE5B00-17B5-6CAA-9D22-2A9D23FD8934}"/>
              </a:ext>
            </a:extLst>
          </p:cNvPr>
          <p:cNvSpPr/>
          <p:nvPr/>
        </p:nvSpPr>
        <p:spPr>
          <a:xfrm>
            <a:off x="19251" y="205583"/>
            <a:ext cx="12172749" cy="65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 latinLnBrk="1"/>
            <a:r>
              <a:rPr lang="en-US" altLang="zh-CN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SPARK: STEPWISE PROCESS-AWARE REWARDS FOR REFERENCE-FREE REINFORCEMENT LEARNING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7050EC8-88B9-F005-EB4F-30C64FD45601}"/>
              </a:ext>
            </a:extLst>
          </p:cNvPr>
          <p:cNvSpPr txBox="1"/>
          <p:nvPr/>
        </p:nvSpPr>
        <p:spPr>
          <a:xfrm>
            <a:off x="129208" y="2150816"/>
            <a:ext cx="121920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问题：当前 </a:t>
            </a:r>
            <a:r>
              <a:rPr lang="de-DE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RLVR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是否真正使 </a:t>
            </a:r>
            <a:r>
              <a:rPr lang="de-DE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LLM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获得了新的推理能力，还是仅仅利用基础模型中已经存在的推理模式？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动机：没有找到整篇论文的动机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注：但是对于具体阶段中每个地方的小动机能看出来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)</a:t>
            </a: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方法：用 </a:t>
            </a:r>
            <a:r>
              <a:rPr lang="de-DE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pass@k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测推理能力，再用 </a:t>
            </a:r>
            <a:r>
              <a:rPr lang="de-DE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coverage/perplexity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判断 </a:t>
            </a:r>
            <a:r>
              <a:rPr lang="de-DE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RLVR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是否产生新的推理路径。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294709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F7B55-C7D2-9787-0AFB-7C4CA92A7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D04C81DE-F268-5630-EA9D-83B1DAE7C7A9}"/>
              </a:ext>
            </a:extLst>
          </p:cNvPr>
          <p:cNvSpPr/>
          <p:nvPr/>
        </p:nvSpPr>
        <p:spPr>
          <a:xfrm>
            <a:off x="19251" y="205583"/>
            <a:ext cx="12172749" cy="65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 latinLnBrk="1"/>
            <a:r>
              <a:rPr lang="zh-CN" altLang="en-US" sz="3000" dirty="0">
                <a:solidFill>
                  <a:schemeClr val="tx1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思考</a:t>
            </a:r>
            <a:endParaRPr lang="en-US" altLang="zh-CN" sz="3000" dirty="0">
              <a:solidFill>
                <a:schemeClr val="tx1"/>
              </a:solidFill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72C4378-EF71-9119-0FCD-B29A084760F9}"/>
              </a:ext>
            </a:extLst>
          </p:cNvPr>
          <p:cNvSpPr txBox="1"/>
          <p:nvPr/>
        </p:nvSpPr>
        <p:spPr>
          <a:xfrm>
            <a:off x="0" y="948181"/>
            <a:ext cx="1219200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1.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我们把</a:t>
            </a:r>
            <a:r>
              <a:rPr lang="de-DE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SPARK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这种方法用于综述中的</a:t>
            </a:r>
            <a:r>
              <a:rPr lang="de-DE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long-horizon decision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问题，能解决吗？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答：可以一定程度上的缓解，因为这种方法主要用于单轮交互的推理中，在多轮交互时还要考虑一些随机动态的状况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也就是环境突然反馈了什么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)</a:t>
            </a: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2. RLVR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存在的问题？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答：</a:t>
            </a:r>
            <a:r>
              <a:rPr lang="zh-CN" altLang="en-US" sz="2400" b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首先，奖励太稀疏，只看最后答案对不对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。如果答案错了，整条推理链都被判负分。但这是不合理的，因为内部的每一个步骤正确性也同样重要。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b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其次，当正确解很难被采样到时，</a:t>
            </a:r>
            <a:r>
              <a:rPr lang="en-US" altLang="zh-CN" sz="2400" b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RLVR</a:t>
            </a:r>
            <a:r>
              <a:rPr lang="zh-CN" altLang="en-US" sz="2400" b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会失效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。也就是在小模型在难题上经常这样：采样很多次，但全错，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reward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全是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，这样</a:t>
            </a:r>
            <a:r>
              <a:rPr lang="en-US" altLang="zh-CN" sz="2400" b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RLVR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就会失效</a:t>
            </a:r>
            <a:r>
              <a:rPr lang="zh-CN" altLang="en-US" sz="2400" b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。</a:t>
            </a:r>
            <a:endParaRPr lang="en-US" altLang="zh-CN" sz="2400" b="1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38008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5470</TotalTime>
  <Words>1863</Words>
  <Application>Microsoft Office PowerPoint</Application>
  <PresentationFormat>宽屏</PresentationFormat>
  <Paragraphs>148</Paragraphs>
  <Slides>15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1" baseType="lpstr">
      <vt:lpstr>等线</vt:lpstr>
      <vt:lpstr>等线 Light</vt:lpstr>
      <vt:lpstr>SimSun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祈 楪</dc:creator>
  <cp:lastModifiedBy>祈 楪</cp:lastModifiedBy>
  <cp:revision>9</cp:revision>
  <dcterms:created xsi:type="dcterms:W3CDTF">2026-04-04T12:35:27Z</dcterms:created>
  <dcterms:modified xsi:type="dcterms:W3CDTF">2026-05-02T12:43:51Z</dcterms:modified>
</cp:coreProperties>
</file>